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18ADD2-B3A6-EFEB-5B6B-76E47D7E40AF}" v="1121" dt="2026-07-03T06:47:59.340"/>
    <p1510:client id="{44B29A24-B068-A4D1-3E4C-2E40F7D31795}" v="1" dt="2026-07-02T04:54:28.993"/>
    <p1510:client id="{452EA3C2-7778-5AB1-7BEC-939AFF02859C}" v="4" dt="2026-07-03T01:16:27.743"/>
    <p1510:client id="{69EB9C08-C92A-FD43-978D-9749037B91E0}" v="134" dt="2026-07-03T03:45:38.501"/>
    <p1510:client id="{87DCBE7F-D764-44EA-A152-B8384F84DA48}" v="7" dt="2026-07-03T06:50:02.136"/>
    <p1510:client id="{882B790E-B9DA-ACA5-558E-0E38609D9666}" v="9" dt="2026-07-03T04:26:16.248"/>
    <p1510:client id="{A4FEE67D-7373-D22B-BD11-E8ECB9D22FC4}" v="923" dt="2026-07-02T08:48:26.334"/>
    <p1510:client id="{F1CC0E3F-DD2A-EDA6-3DB9-D2EFC213552C}" v="427" dt="2026-07-03T00:32:49.345"/>
    <p1510:client id="{F9B822F7-1C13-A7A8-E41A-8C55ADA2CF3C}" v="60" dt="2026-07-02T00:42:34.1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8556232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36094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40948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1654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6651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9810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43532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3919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97862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40035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78999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15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-ieee-org.wwwproxy1.library.unsw.edu.au/document/9221549" TargetMode="External"/><Relationship Id="rId2" Type="http://schemas.openxmlformats.org/officeDocument/2006/relationships/hyperlink" Target="https://www.xilinx.com/support/documents/sw_manuals/xilinx2022_2/ug949-vivado-design-methodology.pdf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md.com/r/2023.2-English/Vitis_Libraries/vision/overview.html_3_5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vision.middlebury.edu/stereo/data/scenes2014/" TargetMode="External"/><Relationship Id="rId2" Type="http://schemas.openxmlformats.org/officeDocument/2006/relationships/hyperlink" Target="https://xilinx.github.io/Vitis_Libraries/vision/2022.1/index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pencv.org/4.13.0/d2/d85/classcv_1_1StereoSGBM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Stereo Depth Estimation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Ishan Gupta, </a:t>
            </a:r>
            <a:r>
              <a:rPr lang="en-US" err="1"/>
              <a:t>Asavri</a:t>
            </a:r>
            <a:r>
              <a:rPr lang="en-US"/>
              <a:t> Kaur, Vasilis Pteris, Alexandra Ukrainskaya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BF8CA-510D-4DC9-424F-3A6C3DF1F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D9EBE-C463-4017-933F-974CA21C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Outline - SGBM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973E-224B-2B56-440D-BB9C6DB3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The Semi-Global Block Matching (SGBM) algorithm was chosen superior level of detail and accuracy in textured environments compared to alternative methods.</a:t>
            </a:r>
          </a:p>
          <a:p>
            <a:r>
              <a:rPr lang="en-US"/>
              <a:t>Translation of C++ logic into HLS compatible code</a:t>
            </a:r>
          </a:p>
          <a:p>
            <a:r>
              <a:rPr lang="en-US"/>
              <a:t>Hardware-software targeting FPGA fabric</a:t>
            </a:r>
          </a:p>
          <a:p>
            <a:r>
              <a:rPr lang="en-US" err="1"/>
              <a:t>Optimisation</a:t>
            </a:r>
            <a:r>
              <a:rPr lang="en-US"/>
              <a:t> of HLS to target optimal performance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2376C-0040-4805-FD56-2B0CC70B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73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BD70-BF36-0FEA-1011-742FFE8A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BE324-F9A0-52C5-B03C-799262A91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209510"/>
            <a:ext cx="3043647" cy="36578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/>
              <a:t>Throughput</a:t>
            </a:r>
          </a:p>
          <a:p>
            <a:pPr marL="0" indent="0">
              <a:buNone/>
            </a:pPr>
            <a:r>
              <a:rPr lang="en-US" sz="1800" dirty="0"/>
              <a:t>Potential scope to achieve real time depth estimation of 161 </a:t>
            </a:r>
            <a:r>
              <a:rPr lang="en-US" sz="1800"/>
              <a:t>±10% FPS at 1080p resolution, to </a:t>
            </a:r>
            <a:r>
              <a:rPr lang="en-US" sz="1800" dirty="0"/>
              <a:t>meet deterministic timing requirements of high-speed optical systems.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F1634-F94D-F1B2-89EF-5B3EE4E9F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57" y="2194996"/>
            <a:ext cx="3021875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Resource </a:t>
            </a:r>
            <a:r>
              <a:rPr lang="en-US" b="1" dirty="0" err="1"/>
              <a:t>Utilisation</a:t>
            </a:r>
            <a:endParaRPr lang="en-US" b="1"/>
          </a:p>
          <a:p>
            <a:pPr marL="0" indent="0">
              <a:buNone/>
            </a:pPr>
            <a:r>
              <a:rPr lang="en-US" sz="1800" dirty="0" err="1"/>
              <a:t>Optimise</a:t>
            </a:r>
            <a:r>
              <a:rPr lang="en-US" sz="1800" dirty="0"/>
              <a:t> resource efficiency to ensure the design fits below a </a:t>
            </a:r>
            <a:r>
              <a:rPr lang="en-US" sz="1800" dirty="0" err="1"/>
              <a:t>utilisation</a:t>
            </a:r>
            <a:r>
              <a:rPr lang="en-US" sz="1800" dirty="0"/>
              <a:t> maximum threshold of 70% for BRAM, DSP, LUT and FF.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4C393-230F-F3BC-05A0-61FAE0286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D3F04-C504-4886-B204-CE1E8AF8A3F7}" type="datetime1">
              <a:t>7/2/2026</a:t>
            </a:fld>
            <a:endParaRPr lang="en-US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2433E77-0365-68E0-DC1B-B805B85C8888}"/>
              </a:ext>
            </a:extLst>
          </p:cNvPr>
          <p:cNvSpPr txBox="1">
            <a:spLocks/>
          </p:cNvSpPr>
          <p:nvPr/>
        </p:nvSpPr>
        <p:spPr>
          <a:xfrm>
            <a:off x="5994400" y="2202253"/>
            <a:ext cx="3043646" cy="36651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Speedup Validation</a:t>
            </a:r>
          </a:p>
          <a:p>
            <a:pPr marL="0" indent="0">
              <a:buNone/>
            </a:pPr>
            <a:r>
              <a:rPr lang="en-US" sz="1800"/>
              <a:t>Quantify a speed up of 10x times the benchmarked software runtime to demonstrate the efficiency of custom hardware accelerated cost aggregation paths.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390B9-48BC-019B-90CB-D5EB0D3B761B}"/>
              </a:ext>
            </a:extLst>
          </p:cNvPr>
          <p:cNvSpPr txBox="1"/>
          <p:nvPr/>
        </p:nvSpPr>
        <p:spPr>
          <a:xfrm>
            <a:off x="0" y="5903685"/>
            <a:ext cx="1168399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hlinkClick r:id="rId2"/>
              </a:rPr>
              <a:t>https://www.xilinx.com/support/documents/sw_manuals/xilinx2022_2/ug949-vivado-design-methodology.pdf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  <a:hlinkClick r:id="rId3"/>
              </a:rPr>
              <a:t>FP-Stereo: Hardware-Efficient Stereo Vision for Embedded Applications | IEEE Conference Publication | IEEE Xplore</a:t>
            </a:r>
            <a:endParaRPr lang="en-US" sz="1400" dirty="0"/>
          </a:p>
          <a:p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89670A3-A403-C327-76E7-A3BFD7CAB3EA}"/>
              </a:ext>
            </a:extLst>
          </p:cNvPr>
          <p:cNvSpPr txBox="1">
            <a:spLocks/>
          </p:cNvSpPr>
          <p:nvPr/>
        </p:nvSpPr>
        <p:spPr>
          <a:xfrm>
            <a:off x="8998857" y="2194995"/>
            <a:ext cx="3196045" cy="3679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Disparity Map </a:t>
            </a:r>
            <a:r>
              <a:rPr lang="en-US" b="1"/>
              <a:t>Validation</a:t>
            </a:r>
          </a:p>
          <a:p>
            <a:pPr marL="0" indent="0">
              <a:buNone/>
            </a:pPr>
            <a:r>
              <a:rPr lang="en-US" sz="1800" dirty="0"/>
              <a:t>Verify correctness of the output disparity maps against benchmarked C++ code and known test </a:t>
            </a:r>
            <a:r>
              <a:rPr lang="en-US" sz="1800"/>
              <a:t>images.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7D52E-D9E5-0C69-26BD-A91EA190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1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BC27-BB9D-1D6D-C15C-E52895047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Algorithm to be accelerated – Asavri/Ishan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B3B21C-13AD-687E-6D97-5B85CE3187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0082" y="1871012"/>
            <a:ext cx="1931272" cy="13376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C58F127-C0BA-62C3-B84D-3B831C4FDDB9}"/>
              </a:ext>
            </a:extLst>
          </p:cNvPr>
          <p:cNvSpPr/>
          <p:nvPr/>
        </p:nvSpPr>
        <p:spPr>
          <a:xfrm>
            <a:off x="566279" y="1871590"/>
            <a:ext cx="3842951" cy="4394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ea typeface="+mn-lt"/>
                <a:cs typeface="+mn-lt"/>
              </a:rPr>
              <a:t>PROGRAM </a:t>
            </a:r>
            <a:r>
              <a:rPr lang="en-US" sz="1400" err="1">
                <a:ea typeface="+mn-lt"/>
                <a:cs typeface="+mn-lt"/>
              </a:rPr>
              <a:t>StereoDepth</a:t>
            </a:r>
            <a:endParaRPr lang="en-US" sz="1400"/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left, right ← load stereo pair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</a:t>
            </a:r>
            <a:r>
              <a:rPr lang="en-US" sz="1400" err="1">
                <a:ea typeface="+mn-lt"/>
                <a:cs typeface="+mn-lt"/>
              </a:rPr>
              <a:t>fx</a:t>
            </a:r>
            <a:r>
              <a:rPr lang="en-US" sz="1400">
                <a:ea typeface="+mn-lt"/>
                <a:cs typeface="+mn-lt"/>
              </a:rPr>
              <a:t>, baseline, doffs ← load calibration</a:t>
            </a:r>
            <a:endParaRPr lang="en-US" sz="1400"/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resize images to 25%</a:t>
            </a:r>
            <a:endParaRPr lang="en-US" sz="1400"/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disparity ← SGBM(left, right)          // pixel shift per point</a:t>
            </a:r>
            <a:endParaRPr lang="en-US" sz="1400"/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FOR each pixel: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     IF disparity &gt; 0: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         depth ← baseline × </a:t>
            </a:r>
            <a:r>
              <a:rPr lang="en-US" sz="1400" err="1">
                <a:ea typeface="+mn-lt"/>
                <a:cs typeface="+mn-lt"/>
              </a:rPr>
              <a:t>fx</a:t>
            </a:r>
            <a:r>
              <a:rPr lang="en-US" sz="1400">
                <a:ea typeface="+mn-lt"/>
                <a:cs typeface="+mn-lt"/>
              </a:rPr>
              <a:t> / (disparity + doffs)   // mm</a:t>
            </a:r>
            <a:endParaRPr lang="en-US" sz="1400"/>
          </a:p>
          <a:p>
            <a:endParaRPr lang="en-US" sz="1400"/>
          </a:p>
          <a:p>
            <a:r>
              <a:rPr lang="en-US" sz="1400">
                <a:ea typeface="+mn-lt"/>
                <a:cs typeface="+mn-lt"/>
              </a:rPr>
              <a:t>    save disparity map, depth map, raw depth</a:t>
            </a:r>
            <a:endParaRPr lang="en-US" sz="1400"/>
          </a:p>
          <a:p>
            <a:r>
              <a:rPr lang="en-US" sz="1400">
                <a:ea typeface="+mn-lt"/>
                <a:cs typeface="+mn-lt"/>
              </a:rPr>
              <a:t>END</a:t>
            </a:r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16D73-850B-82FA-23B7-08D1DCF27E7A}"/>
              </a:ext>
            </a:extLst>
          </p:cNvPr>
          <p:cNvSpPr txBox="1"/>
          <p:nvPr/>
        </p:nvSpPr>
        <p:spPr>
          <a:xfrm>
            <a:off x="5249955" y="3426171"/>
            <a:ext cx="130949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Left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F4688-AC0D-E336-8A57-ACF057065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220" y="1873704"/>
            <a:ext cx="2036989" cy="1332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5E07CC-E642-1E88-3023-B7CB5CD12F8C}"/>
              </a:ext>
            </a:extLst>
          </p:cNvPr>
          <p:cNvSpPr txBox="1"/>
          <p:nvPr/>
        </p:nvSpPr>
        <p:spPr>
          <a:xfrm>
            <a:off x="7129555" y="3426171"/>
            <a:ext cx="19553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Right image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D8C0F7-AF7C-1303-D06A-6B4394BCD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330" y="4182608"/>
            <a:ext cx="1934483" cy="1402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99A901-9D37-DF97-C05E-D50B4A106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9866" y="1874837"/>
            <a:ext cx="1918154" cy="1337583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761F2A4-F63F-31AB-5FCB-E183D5A1CF91}"/>
              </a:ext>
            </a:extLst>
          </p:cNvPr>
          <p:cNvSpPr/>
          <p:nvPr/>
        </p:nvSpPr>
        <p:spPr>
          <a:xfrm>
            <a:off x="4942336" y="4179361"/>
            <a:ext cx="3842950" cy="1905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200">
                <a:ea typeface="+mn-lt"/>
                <a:cs typeface="+mn-lt"/>
              </a:rPr>
              <a:t>Software Implementation</a:t>
            </a:r>
          </a:p>
          <a:p>
            <a:r>
              <a:rPr lang="en-US" sz="1200">
                <a:ea typeface="+mn-lt"/>
                <a:cs typeface="+mn-lt"/>
              </a:rPr>
              <a:t>--- Timing (741x500, </a:t>
            </a:r>
            <a:r>
              <a:rPr lang="en-US" sz="1200" err="1">
                <a:ea typeface="+mn-lt"/>
                <a:cs typeface="+mn-lt"/>
              </a:rPr>
              <a:t>maxDisp</a:t>
            </a:r>
            <a:r>
              <a:rPr lang="en-US" sz="1200">
                <a:ea typeface="+mn-lt"/>
                <a:cs typeface="+mn-lt"/>
              </a:rPr>
              <a:t>=80) ---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load images:      300.679 </a:t>
            </a:r>
            <a:r>
              <a:rPr lang="en-US" sz="1200" err="1">
                <a:ea typeface="+mn-lt"/>
                <a:cs typeface="+mn-lt"/>
              </a:rPr>
              <a:t>ms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resize + save:    19.3048 </a:t>
            </a:r>
            <a:r>
              <a:rPr lang="en-US" sz="1200" err="1">
                <a:ea typeface="+mn-lt"/>
                <a:cs typeface="+mn-lt"/>
              </a:rPr>
              <a:t>ms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SGBM (cold):      35.8756 </a:t>
            </a:r>
            <a:r>
              <a:rPr lang="en-US" sz="1200" err="1">
                <a:ea typeface="+mn-lt"/>
                <a:cs typeface="+mn-lt"/>
              </a:rPr>
              <a:t>ms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SGBM best of 10:  28.8824 </a:t>
            </a:r>
            <a:r>
              <a:rPr lang="en-US" sz="1200" err="1">
                <a:ea typeface="+mn-lt"/>
                <a:cs typeface="+mn-lt"/>
              </a:rPr>
              <a:t>ms</a:t>
            </a:r>
            <a:r>
              <a:rPr lang="en-US" sz="1200">
                <a:ea typeface="+mn-lt"/>
                <a:cs typeface="+mn-lt"/>
              </a:rPr>
              <a:t>  (12.8279 </a:t>
            </a:r>
            <a:r>
              <a:rPr lang="en-US" sz="1200" err="1">
                <a:ea typeface="+mn-lt"/>
                <a:cs typeface="+mn-lt"/>
              </a:rPr>
              <a:t>Mpix</a:t>
            </a:r>
            <a:r>
              <a:rPr lang="en-US" sz="1200">
                <a:ea typeface="+mn-lt"/>
                <a:cs typeface="+mn-lt"/>
              </a:rPr>
              <a:t>/s)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depth conversion: 2.4578 </a:t>
            </a:r>
            <a:r>
              <a:rPr lang="en-US" sz="1200" err="1">
                <a:ea typeface="+mn-lt"/>
                <a:cs typeface="+mn-lt"/>
              </a:rPr>
              <a:t>ms</a:t>
            </a:r>
            <a:endParaRPr lang="en-US" sz="1200"/>
          </a:p>
          <a:p>
            <a:r>
              <a:rPr lang="en-US" sz="1200">
                <a:ea typeface="+mn-lt"/>
                <a:cs typeface="+mn-lt"/>
              </a:rPr>
              <a:t>visualize + save: 262.639 </a:t>
            </a:r>
            <a:r>
              <a:rPr lang="en-US" sz="1200" err="1">
                <a:ea typeface="+mn-lt"/>
                <a:cs typeface="+mn-lt"/>
              </a:rPr>
              <a:t>ms</a:t>
            </a:r>
            <a:endParaRPr lang="en-US" sz="1200"/>
          </a:p>
          <a:p>
            <a:endParaRPr lang="en-US" sz="1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7F5DBF-E1B0-7BC4-7AEA-4F3B243E3847}"/>
              </a:ext>
            </a:extLst>
          </p:cNvPr>
          <p:cNvSpPr txBox="1"/>
          <p:nvPr/>
        </p:nvSpPr>
        <p:spPr>
          <a:xfrm>
            <a:off x="9270411" y="3426170"/>
            <a:ext cx="170138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Disparity 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832378-859B-6612-661A-06CE7379AA29}"/>
              </a:ext>
            </a:extLst>
          </p:cNvPr>
          <p:cNvSpPr txBox="1"/>
          <p:nvPr/>
        </p:nvSpPr>
        <p:spPr>
          <a:xfrm>
            <a:off x="9263154" y="5813770"/>
            <a:ext cx="18320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Depth map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88D58-F2A4-A97B-AFED-9348162E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9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D2167-63B1-7E3E-9EDA-380AC02A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Investigation so far - Alexandra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6EEE977-7AA3-BE94-5A43-28D36CF17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879" y="2122908"/>
            <a:ext cx="8229600" cy="676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BF1A64-19A0-B003-1C25-B88D8EDEF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269" y="2125662"/>
            <a:ext cx="8220075" cy="6762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BBC761-1BB7-046D-D9CB-5A3F1908FA42}"/>
              </a:ext>
            </a:extLst>
          </p:cNvPr>
          <p:cNvSpPr txBox="1"/>
          <p:nvPr/>
        </p:nvSpPr>
        <p:spPr>
          <a:xfrm>
            <a:off x="755135" y="2975918"/>
            <a:ext cx="544727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600"/>
              <a:t>SGM has offers great speed/accuracy trade-off among local/global/semi-global stereo matching algorithms[1]</a:t>
            </a:r>
          </a:p>
          <a:p>
            <a:pPr marL="285750" indent="-285750">
              <a:buFont typeface="Calibri"/>
              <a:buChar char="-"/>
            </a:pPr>
            <a:r>
              <a:rPr lang="en-US" sz="1600"/>
              <a:t>General stereo depth camera pipeline is </a:t>
            </a:r>
            <a:r>
              <a:rPr lang="en-US" sz="1600">
                <a:ea typeface="+mn-lt"/>
                <a:cs typeface="+mn-lt"/>
              </a:rPr>
              <a:t>capture → calibrate → rectify → stereo matching (SGM) → disparity-to-depth triangulation [2]. The pipeline for stereo matching (SGM), which we are going to accelerate, is cost →aggregation → disparity → refinement[3].</a:t>
            </a:r>
            <a:endParaRPr lang="en-US" sz="1600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49C674-6C75-A912-1AF5-6D9CE58F35FE}"/>
              </a:ext>
            </a:extLst>
          </p:cNvPr>
          <p:cNvSpPr txBox="1"/>
          <p:nvPr/>
        </p:nvSpPr>
        <p:spPr>
          <a:xfrm>
            <a:off x="7825947" y="2975919"/>
            <a:ext cx="4242485" cy="307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1600"/>
              <a:t>Existing FPGA solutions: Vitis Vision Library[5] has PL implementation of functions that may be used for stereo vision; FP-stereo open-source library for stereo camera pipelines[5].</a:t>
            </a:r>
          </a:p>
          <a:p>
            <a:pPr marL="285750" indent="-285750">
              <a:buFont typeface="Calibri"/>
              <a:buChar char="-"/>
            </a:pPr>
            <a:r>
              <a:rPr lang="en-US" sz="1600">
                <a:ea typeface="+mn-lt"/>
                <a:cs typeface="+mn-lt"/>
              </a:rPr>
              <a:t>Global optimization causes heavy memory pressure on hardware (large intermediate results, irregular access) → cost aggregation is the FPGA bottleneck [6]</a:t>
            </a:r>
            <a:endParaRPr lang="en-US" sz="1600"/>
          </a:p>
          <a:p>
            <a:pPr marL="285750" indent="-285750">
              <a:buFont typeface="Calibri"/>
              <a:buChar char="-"/>
            </a:pPr>
            <a:endParaRPr lang="en-US" sz="1600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10D11-5BAC-56A2-3A07-3395F5C50057}"/>
              </a:ext>
            </a:extLst>
          </p:cNvPr>
          <p:cNvSpPr txBox="1"/>
          <p:nvPr/>
        </p:nvSpPr>
        <p:spPr>
          <a:xfrm>
            <a:off x="82378" y="5828269"/>
            <a:ext cx="1199291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+mn-lt"/>
                <a:cs typeface="+mn-lt"/>
              </a:rPr>
              <a:t>[1]H. Hirschmuller, "Stereo Vision in Structured Environments by Consistent Semi-Global Matching," </a:t>
            </a:r>
            <a:r>
              <a:rPr lang="en-US" sz="800" i="1">
                <a:ea typeface="+mn-lt"/>
                <a:cs typeface="+mn-lt"/>
              </a:rPr>
              <a:t>2006 IEEE Computer Society Conference on Computer Vision and Pattern Recognition (CVPR'06)</a:t>
            </a:r>
            <a:r>
              <a:rPr lang="en-US" sz="800">
                <a:ea typeface="+mn-lt"/>
                <a:cs typeface="+mn-lt"/>
              </a:rPr>
              <a:t>, New York, NY, USA, 2006, pp. 2386-2393, </a:t>
            </a:r>
            <a:r>
              <a:rPr lang="en-US" sz="800" err="1">
                <a:ea typeface="+mn-lt"/>
                <a:cs typeface="+mn-lt"/>
              </a:rPr>
              <a:t>doi</a:t>
            </a:r>
            <a:r>
              <a:rPr lang="en-US" sz="800">
                <a:ea typeface="+mn-lt"/>
                <a:cs typeface="+mn-lt"/>
              </a:rPr>
              <a:t>: 10.1109/CVPR.2006.294.</a:t>
            </a:r>
            <a:endParaRPr lang="en-US" sz="800"/>
          </a:p>
          <a:p>
            <a:r>
              <a:rPr lang="en-US" sz="800">
                <a:ea typeface="+mn-lt"/>
                <a:cs typeface="+mn-lt"/>
              </a:rPr>
              <a:t>[2] R. Szeliski, Computer Vision: Algorithms and Applications, 2nd ed. Cham, Switzerland: Springer, 2022, ch. 11-12.</a:t>
            </a:r>
          </a:p>
          <a:p>
            <a:r>
              <a:rPr lang="en-US" sz="800"/>
              <a:t>[3] </a:t>
            </a:r>
            <a:r>
              <a:rPr lang="en-US" sz="800">
                <a:ea typeface="+mn-lt"/>
                <a:cs typeface="+mn-lt"/>
              </a:rPr>
              <a:t>R. A. Hamzah and H. Ibrahim, "Literature survey on stereo vision disparity map algorithms," Journal of Sensors, vol. 2016, Art. no. 8742920, 2016, </a:t>
            </a:r>
            <a:r>
              <a:rPr lang="en-US" sz="800" err="1">
                <a:ea typeface="+mn-lt"/>
                <a:cs typeface="+mn-lt"/>
              </a:rPr>
              <a:t>doi</a:t>
            </a:r>
            <a:r>
              <a:rPr lang="en-US" sz="800">
                <a:ea typeface="+mn-lt"/>
                <a:cs typeface="+mn-lt"/>
              </a:rPr>
              <a:t>: 10.1155/2016/8742920.</a:t>
            </a:r>
          </a:p>
          <a:p>
            <a:r>
              <a:rPr lang="en-US" sz="800"/>
              <a:t>[4] </a:t>
            </a:r>
            <a:r>
              <a:rPr lang="en-US" sz="800">
                <a:ea typeface="+mn-lt"/>
                <a:cs typeface="+mn-lt"/>
              </a:rPr>
              <a:t>AMD, "Stereo Vision Pipeline," Vitis Vision Library, version 2023.2, Dec. 2023. [Online]. Available: </a:t>
            </a:r>
            <a:r>
              <a:rPr lang="en-US" sz="800">
                <a:ea typeface="+mn-lt"/>
                <a:cs typeface="+mn-lt"/>
                <a:hlinkClick r:id="rId4"/>
              </a:rPr>
              <a:t>https://docs.amd.com/r/2023.2-English/Vitis_Libraries/vision/overview.html_3_5</a:t>
            </a:r>
            <a:r>
              <a:rPr lang="en-US" sz="800">
                <a:ea typeface="+mn-lt"/>
                <a:cs typeface="+mn-lt"/>
              </a:rPr>
              <a:t>.</a:t>
            </a:r>
            <a:endParaRPr lang="en-US" sz="800"/>
          </a:p>
          <a:p>
            <a:r>
              <a:rPr lang="en-US" sz="800"/>
              <a:t>[5] </a:t>
            </a:r>
            <a:r>
              <a:rPr lang="en-US" sz="800">
                <a:ea typeface="+mn-lt"/>
                <a:cs typeface="+mn-lt"/>
              </a:rPr>
              <a:t>J. Zhao, T. Liang, L. Feng, W. Ding, S. Sinha, W. Zhang, and S. Shen, "FP-Stereo: Hardware-efficient stereo vision for embedded applications," in Proc. 30th Int. Conf. Field-Programmable Logic and Applications (FPL), 2020.</a:t>
            </a:r>
          </a:p>
          <a:p>
            <a:r>
              <a:rPr lang="en-US" sz="800"/>
              <a:t>[6] </a:t>
            </a:r>
            <a:r>
              <a:rPr lang="en-US" sz="800">
                <a:ea typeface="+mn-lt"/>
                <a:cs typeface="+mn-lt"/>
              </a:rPr>
              <a:t>W. Wang, J. Yan, N. Xu, Y. Wang, and F.-H. Hsu, "Real-time high-quality stereo vision system in FPGA," in Proc. Int. Conf. Field-Programmable Technology (FPT), Kyoto, Japan, 2013, pp. 358–361, </a:t>
            </a:r>
            <a:r>
              <a:rPr lang="en-US" sz="800" err="1">
                <a:ea typeface="+mn-lt"/>
                <a:cs typeface="+mn-lt"/>
              </a:rPr>
              <a:t>doi</a:t>
            </a:r>
            <a:r>
              <a:rPr lang="en-US" sz="800">
                <a:ea typeface="+mn-lt"/>
                <a:cs typeface="+mn-lt"/>
              </a:rPr>
              <a:t>: 10.1109/FPT.2013.6718387.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39B76-8DC7-ECBB-564F-9585DD9AC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77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7002-D100-EDBD-7AF8-E5570AAC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Plan (Milestones &amp; Timeline)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23CE-323F-6AA5-0423-D34B4BB9D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654" y="2448995"/>
            <a:ext cx="10589042" cy="36941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Benchmarking PS (Completed end of week 5)</a:t>
            </a:r>
          </a:p>
          <a:p>
            <a:r>
              <a:rPr lang="en-US"/>
              <a:t>Implementing on PL (Complete end of week 7)</a:t>
            </a:r>
          </a:p>
          <a:p>
            <a:r>
              <a:rPr lang="en-US"/>
              <a:t>Optimizing PL (Complete end of week 8)</a:t>
            </a:r>
          </a:p>
          <a:p>
            <a:r>
              <a:rPr lang="en-US"/>
              <a:t>Peripheral Integration (Stereo Cameras) [Complete end of week 8/ongoing into  week 9]</a:t>
            </a:r>
          </a:p>
          <a:p>
            <a:r>
              <a:rPr lang="en-US"/>
              <a:t>Report (Ongoing, due week 10)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F67B6-8E8E-A6B6-9DDD-1F8B2772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153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4CA34-AD0E-4FD5-322D-9525E30F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Risks and Contingencies - Asavri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A51B3C-C385-BD01-B8E1-D6ADF0009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6806263"/>
              </p:ext>
            </p:extLst>
          </p:nvPr>
        </p:nvGraphicFramePr>
        <p:xfrm>
          <a:off x="1117600" y="1727200"/>
          <a:ext cx="10167931" cy="44535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1984">
                  <a:extLst>
                    <a:ext uri="{9D8B030D-6E8A-4147-A177-3AD203B41FA5}">
                      <a16:colId xmlns:a16="http://schemas.microsoft.com/office/drawing/2014/main" val="64011150"/>
                    </a:ext>
                  </a:extLst>
                </a:gridCol>
                <a:gridCol w="1448872">
                  <a:extLst>
                    <a:ext uri="{9D8B030D-6E8A-4147-A177-3AD203B41FA5}">
                      <a16:colId xmlns:a16="http://schemas.microsoft.com/office/drawing/2014/main" val="4204516474"/>
                    </a:ext>
                  </a:extLst>
                </a:gridCol>
                <a:gridCol w="1082183">
                  <a:extLst>
                    <a:ext uri="{9D8B030D-6E8A-4147-A177-3AD203B41FA5}">
                      <a16:colId xmlns:a16="http://schemas.microsoft.com/office/drawing/2014/main" val="2223038921"/>
                    </a:ext>
                  </a:extLst>
                </a:gridCol>
                <a:gridCol w="5094892">
                  <a:extLst>
                    <a:ext uri="{9D8B030D-6E8A-4147-A177-3AD203B41FA5}">
                      <a16:colId xmlns:a16="http://schemas.microsoft.com/office/drawing/2014/main" val="2893790976"/>
                    </a:ext>
                  </a:extLst>
                </a:gridCol>
              </a:tblGrid>
              <a:tr h="795985">
                <a:tc>
                  <a:txBody>
                    <a:bodyPr/>
                    <a:lstStyle/>
                    <a:p>
                      <a:r>
                        <a:rPr lang="en-US"/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Impact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6008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SGM cost aggregation exceeds on-chip memory (BRAM)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Reduce disparity range/resolution (quality validated in SW at 0.25×); 4 aggregation paths instead of 8; fall back to local BM (</a:t>
                      </a:r>
                      <a:r>
                        <a:rPr lang="en-US" sz="1800" b="0" i="0" u="none" strike="noStrike" noProof="0" err="1">
                          <a:latin typeface="Consolas"/>
                        </a:rPr>
                        <a:t>xf</a:t>
                      </a:r>
                      <a:r>
                        <a:rPr lang="en-US" sz="1800" b="0" i="0" u="none" strike="noStrike" noProof="0">
                          <a:latin typeface="Consolas"/>
                        </a:rPr>
                        <a:t>::cv::</a:t>
                      </a:r>
                      <a:r>
                        <a:rPr lang="en-US" sz="1800" b="0" i="0" u="none" strike="noStrike" noProof="0" err="1">
                          <a:latin typeface="Consolas"/>
                        </a:rPr>
                        <a:t>StereoBM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7176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HLS kernel misses timing / throughput target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Lower clock or parallelism; use proven Vitis Vision </a:t>
                      </a:r>
                      <a:r>
                        <a:rPr lang="en-US" sz="1800" b="0" i="0" u="none" strike="noStrike" noProof="0" err="1">
                          <a:latin typeface="Consolas"/>
                        </a:rPr>
                        <a:t>SemiGlobalBM</a:t>
                      </a:r>
                      <a:r>
                        <a:rPr lang="en-US" sz="1800" b="0" i="0" u="none" strike="noStrike" noProof="0">
                          <a:latin typeface="Avenir Next LT Pro"/>
                        </a:rPr>
                        <a:t> IP as baseline, custom kernel as stretch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452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No physical stereo camera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Full pipeline runs on Middlebury dataset pairs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818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Integration overrun (tool/board issues, schedule)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Staged deliverables. Each stage is independent. SW -&gt; HLS -&gt; on board -&gt; live camera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645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4C0B71-E37C-6977-1583-5282A841C6BF}"/>
              </a:ext>
            </a:extLst>
          </p:cNvPr>
          <p:cNvSpPr txBox="1"/>
          <p:nvPr/>
        </p:nvSpPr>
        <p:spPr>
          <a:xfrm>
            <a:off x="1125348" y="6312994"/>
            <a:ext cx="42211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H = High, M = Medium, L = 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B8492-1108-0519-02FA-7B36735D8997}"/>
              </a:ext>
            </a:extLst>
          </p:cNvPr>
          <p:cNvSpPr txBox="1"/>
          <p:nvPr/>
        </p:nvSpPr>
        <p:spPr>
          <a:xfrm>
            <a:off x="4848379" y="6305906"/>
            <a:ext cx="72460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+mn-lt"/>
                <a:cs typeface="+mn-lt"/>
                <a:hlinkClick r:id="rId2"/>
              </a:rPr>
              <a:t>xilinx.github.io/Vitis_Libraries/vision/2022.1/index.html</a:t>
            </a:r>
          </a:p>
          <a:p>
            <a:r>
              <a:rPr lang="en-US">
                <a:ea typeface="+mn-lt"/>
                <a:cs typeface="+mn-lt"/>
                <a:hlinkClick r:id="rId3"/>
              </a:rPr>
              <a:t>2014 Stereo Datasets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  <a:hlinkClick r:id="rId4"/>
              </a:rPr>
              <a:t>OpenCV: cv::StereoSGBM Class Reference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D9AF9B-C990-1AD4-E315-1873D7A4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63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87C35-B277-45B7-473D-71E66DA83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5E3B-1B37-4DB6-1385-E2D5A07BC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/>
              <a:t>Ishan Gupta – Set up platform, Test on board, Replace with real kernel, Clock tuning and pipeline </a:t>
            </a:r>
            <a:r>
              <a:rPr lang="en-US" dirty="0" err="1"/>
              <a:t>optimisation</a:t>
            </a:r>
            <a:r>
              <a:rPr lang="en-US" dirty="0"/>
              <a:t>.</a:t>
            </a:r>
          </a:p>
          <a:p>
            <a:r>
              <a:rPr lang="en-US" dirty="0"/>
              <a:t>Asavri Kaur – ARM program, ARM verification, Kernel timing, Pixels-per-clock </a:t>
            </a:r>
            <a:r>
              <a:rPr lang="en-US" dirty="0" err="1"/>
              <a:t>optimisation</a:t>
            </a:r>
            <a:r>
              <a:rPr lang="en-US" dirty="0"/>
              <a:t> testing.</a:t>
            </a:r>
          </a:p>
          <a:p>
            <a:r>
              <a:rPr lang="en-US" dirty="0"/>
              <a:t>Vasilis Pteris – Kernel in </a:t>
            </a:r>
            <a:r>
              <a:rPr lang="en-US" dirty="0" err="1"/>
              <a:t>csim</a:t>
            </a:r>
            <a:r>
              <a:rPr lang="en-US" dirty="0"/>
              <a:t>, circuit verification, SGM in KV260 and Unroll + Partition sweep testing.</a:t>
            </a:r>
          </a:p>
          <a:p>
            <a:r>
              <a:rPr lang="en-US" dirty="0"/>
              <a:t>Alexandra </a:t>
            </a:r>
            <a:r>
              <a:rPr lang="en-US" dirty="0" err="1"/>
              <a:t>Ukrainskaya</a:t>
            </a:r>
            <a:r>
              <a:rPr lang="en-US" dirty="0"/>
              <a:t> – Build depth map verification tool, Write printable C++ algorithm, Board output verification, Different data type sizes </a:t>
            </a:r>
            <a:r>
              <a:rPr lang="en-US" dirty="0" err="1"/>
              <a:t>optimisation</a:t>
            </a:r>
            <a:r>
              <a:rPr lang="en-US" dirty="0"/>
              <a:t> testing.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945CA-EF3A-D355-5C8B-7D0899C1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06270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AccentBoxVTI</vt:lpstr>
      <vt:lpstr>Stereo Depth Estimation</vt:lpstr>
      <vt:lpstr>Project Outline - SGBM</vt:lpstr>
      <vt:lpstr>Specific Aims</vt:lpstr>
      <vt:lpstr>Algorithm to be accelerated – Asavri/Ishan</vt:lpstr>
      <vt:lpstr>Investigation so far - Alexandra</vt:lpstr>
      <vt:lpstr>Project Plan (Milestones &amp; Timeline)</vt:lpstr>
      <vt:lpstr>Risks and Contingencies - Asavri</vt:lpstr>
      <vt:lpstr>Team Roles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333</cp:revision>
  <dcterms:created xsi:type="dcterms:W3CDTF">2026-06-30T01:19:03Z</dcterms:created>
  <dcterms:modified xsi:type="dcterms:W3CDTF">2026-07-03T06:51:30Z</dcterms:modified>
</cp:coreProperties>
</file>